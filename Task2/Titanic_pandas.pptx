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Survival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E44-4D80-9126-A0B242116BAE}"/>
              </c:ext>
            </c:extLst>
          </c:dPt>
          <c:dPt>
            <c:idx val="1"/>
            <c:bubble3D val="0"/>
            <c:spPr>
              <a:solidFill>
                <a:srgbClr val="2563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E44-4D80-9126-A0B242116BA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E44-4D80-9126-A0B242116BA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44-4D80-9126-A0B242116BA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Did Not Survive</c:v>
                </c:pt>
                <c:pt idx="1">
                  <c:v>Survived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549</c:v>
                </c:pt>
                <c:pt idx="1">
                  <c:v>342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E44-4D80-9126-A0B242116B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 (%)</c:v>
                </c:pt>
              </c:strCache>
            </c:strRef>
          </c:tx>
          <c:spPr>
            <a:solidFill>
              <a:srgbClr val="2563A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563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4A6-4E2C-BC57-6CC39669DACC}"/>
              </c:ext>
            </c:extLst>
          </c:dPt>
          <c:dPt>
            <c:idx val="1"/>
            <c:invertIfNegative val="0"/>
            <c:bubble3D val="0"/>
            <c:spPr>
              <a:solidFill>
                <a:srgbClr val="C0C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A6-4E2C-BC57-6CC39669DAC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74.2</c:v>
                </c:pt>
                <c:pt idx="1">
                  <c:v>18.899999999999999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A6-4E2C-BC57-6CC39669DA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E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 (%)</c:v>
                </c:pt>
              </c:strCache>
            </c:strRef>
          </c:tx>
          <c:spPr>
            <a:solidFill>
              <a:srgbClr val="2563A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ADE-4DF8-A2EC-F2C24B9B9591}"/>
              </c:ext>
            </c:extLst>
          </c:dPt>
          <c:dPt>
            <c:idx val="1"/>
            <c:invertIfNegative val="0"/>
            <c:bubble3D val="0"/>
            <c:spPr>
              <a:solidFill>
                <a:srgbClr val="7A9B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DE-4DF8-A2EC-F2C24B9B9591}"/>
              </c:ext>
            </c:extLst>
          </c:dPt>
          <c:dPt>
            <c:idx val="2"/>
            <c:invertIfNegative val="0"/>
            <c:bubble3D val="0"/>
            <c:spPr>
              <a:solidFill>
                <a:srgbClr val="C0C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ADE-4DF8-A2EC-F2C24B9B95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First Class</c:v>
                </c:pt>
                <c:pt idx="1">
                  <c:v>Second Class</c:v>
                </c:pt>
                <c:pt idx="2">
                  <c:v>Third Class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62.9</c:v>
                </c:pt>
                <c:pt idx="1">
                  <c:v>47.3</c:v>
                </c:pt>
                <c:pt idx="2">
                  <c:v>24.2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ADE-4DF8-A2EC-F2C24B9B95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 (%)</c:v>
                </c:pt>
              </c:strCache>
            </c:strRef>
          </c:tx>
          <c:spPr>
            <a:solidFill>
              <a:srgbClr val="2563A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B9E-467B-8A6C-79D510F5DC75}"/>
              </c:ext>
            </c:extLst>
          </c:dPt>
          <c:dPt>
            <c:idx val="1"/>
            <c:invertIfNegative val="0"/>
            <c:bubble3D val="0"/>
            <c:spPr>
              <a:solidFill>
                <a:srgbClr val="C0C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B9E-467B-8A6C-79D510F5DC7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 Family</c:v>
                </c:pt>
                <c:pt idx="1">
                  <c:v>Alone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50.5</c:v>
                </c:pt>
                <c:pt idx="1">
                  <c:v>30.4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9E-467B-8A6C-79D510F5DC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 (%)</c:v>
                </c:pt>
              </c:strCache>
            </c:strRef>
          </c:tx>
          <c:spPr>
            <a:solidFill>
              <a:srgbClr val="C0CAD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B9-433F-AD09-C44760FC8F92}"/>
              </c:ext>
            </c:extLst>
          </c:dPt>
          <c:dPt>
            <c:idx val="1"/>
            <c:invertIfNegative val="0"/>
            <c:bubble3D val="0"/>
            <c:spPr>
              <a:solidFill>
                <a:srgbClr val="2563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B9-433F-AD09-C44760FC8F9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Adult</c:v>
                </c:pt>
                <c:pt idx="1">
                  <c:v>Child (&lt;16)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36.9</c:v>
                </c:pt>
                <c:pt idx="1">
                  <c:v>53.9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6B9-433F-AD09-C44760FC8F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2563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1st Class</c:v>
                </c:pt>
                <c:pt idx="1">
                  <c:v>2nd Class</c:v>
                </c:pt>
                <c:pt idx="2">
                  <c:v>3rd Class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96.8</c:v>
                </c:pt>
                <c:pt idx="1">
                  <c:v>92.1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B3-49C0-B02E-A2DD34F5C5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C0CA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1st Class</c:v>
                </c:pt>
                <c:pt idx="1">
                  <c:v>2nd Class</c:v>
                </c:pt>
                <c:pt idx="2">
                  <c:v>3rd Class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36.9</c:v>
                </c:pt>
                <c:pt idx="1">
                  <c:v>15.7</c:v>
                </c:pt>
                <c:pt idx="2">
                  <c:v>13.5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B3-49C0-B02E-A2DD34F5C5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864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A4"/>
          </a:solidFill>
          <a:ln w="12700">
            <a:solidFill>
              <a:srgbClr val="2563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Dataset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SSCS  ·  AI Sub-Team  ·  Task 2: Pandas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SSCS  ·  AI Sub-Team  ·  Titanic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8138160" cy="22860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Handled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402336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538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— 177 missing values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column mean (29.7 yrs)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58568"/>
            <a:ext cx="402336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3225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— 687 missing values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(77% missing, unusable)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402336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1912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Embarked — 2 missing values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mode (Southampton)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Columns Created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1389888"/>
            <a:ext cx="37490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389888"/>
            <a:ext cx="91440" cy="749808"/>
          </a:xfrm>
          <a:prstGeom prst="rect">
            <a:avLst/>
          </a:prstGeom>
          <a:solidFill>
            <a:srgbClr val="2563A4"/>
          </a:solidFill>
          <a:ln w="12700">
            <a:solidFill>
              <a:srgbClr val="2563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4538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FamilySize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38928" y="17373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SibSp + Parch  →  family members aboard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258568"/>
            <a:ext cx="37490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258568"/>
            <a:ext cx="91440" cy="749808"/>
          </a:xfrm>
          <a:prstGeom prst="rect">
            <a:avLst/>
          </a:prstGeom>
          <a:solidFill>
            <a:srgbClr val="2563A4"/>
          </a:solidFill>
          <a:ln w="12700">
            <a:solidFill>
              <a:srgbClr val="2563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23225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IsAlone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38928" y="26060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traveling solo, 0 if with family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127248"/>
            <a:ext cx="37490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3127248"/>
            <a:ext cx="91440" cy="749808"/>
          </a:xfrm>
          <a:prstGeom prst="rect">
            <a:avLst/>
          </a:prstGeom>
          <a:solidFill>
            <a:srgbClr val="2563A4"/>
          </a:solidFill>
          <a:ln w="12700">
            <a:solidFill>
              <a:srgbClr val="2563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31912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IsChild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38928" y="34747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Age &lt; 16,  0 if adult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SSCS  ·  AI Sub-Team  ·  Titanic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Survival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8138160" cy="22860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51560"/>
            <a:ext cx="2926080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544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passengers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5661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549 did not survive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survived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total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749040" y="1005840"/>
          <a:ext cx="49377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SSCS  ·  AI Sub-Team  ·  Titanic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by Gender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8138160" cy="22860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502920" y="105156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051560"/>
            <a:ext cx="2286000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pt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0" y="2560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and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survival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"Women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first"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SSCS  ·  AI Sub-Team  ·  Titanic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by Passenger Class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8138160" cy="22860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502920" y="105156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051560"/>
            <a:ext cx="228600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11247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62.9%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0" y="15819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Class  ·  Upper decks, best lifeboat access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0" y="2240280"/>
            <a:ext cx="228600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23134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400800" y="2770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Class  ·  Middle decks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00800" y="3429000"/>
            <a:ext cx="228600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35021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400800" y="3959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Class  ·  Lower decks, restricted access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SSCS  ·  AI Sub-Team  ·  Titanic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Status &amp; Age — IsAlone and IsChild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8138160" cy="22860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IsAlone — Traveling Solo?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32588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07492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IsChild — Under 16?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5074920" y="132588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SSCS  ·  AI Sub-Team  ·  Titanic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Pattern — Gender × Class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8138160" cy="22860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502920" y="1051560"/>
          <a:ext cx="59436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051560"/>
            <a:ext cx="192024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66560" y="1645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56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pt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766560" y="2423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49440" y="2834640"/>
            <a:ext cx="1554480" cy="18288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2926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1st-F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766560" y="3547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66560" y="3794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3rd-M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SSCS  ·  AI Sub-Team  ·  Titanic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A4"/>
          </a:solidFill>
          <a:ln w="12700">
            <a:solidFill>
              <a:srgbClr val="2563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5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Titanic data tells a clear story: survival was never random. Gender was the strongest factor — women survived at nearly four times the rate of men — followed by passenger class, where first class passengers more than doubled the survival odds of third class.</a:t>
            </a:r>
            <a:endParaRPr lang="en-US" sz="1450" dirty="0"/>
          </a:p>
          <a:p>
            <a:pPr marL="0" indent="0" algn="l">
              <a:lnSpc>
                <a:spcPct val="160000"/>
              </a:lnSpc>
              <a:buNone/>
            </a:pPr>
            <a:endParaRPr lang="en-US" sz="14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45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created the widest gap in the dataset: 96.8% for first class women versus just 13.5% for third class men. Wealth, children, and family connection also played a role. In the end, who you were in 1912 determined whether you went home.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2651760" cy="1005840"/>
          </a:xfrm>
          <a:prstGeom prst="rect">
            <a:avLst/>
          </a:prstGeom>
          <a:solidFill>
            <a:srgbClr val="253546"/>
          </a:solidFill>
          <a:ln w="7620">
            <a:solidFill>
              <a:srgbClr val="3445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325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Factor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3794760"/>
            <a:ext cx="2651760" cy="1005840"/>
          </a:xfrm>
          <a:prstGeom prst="rect">
            <a:avLst/>
          </a:prstGeom>
          <a:solidFill>
            <a:srgbClr val="253546"/>
          </a:solidFill>
          <a:ln w="7620">
            <a:solidFill>
              <a:srgbClr val="344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55848" y="4325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Strongest Factor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3794760"/>
            <a:ext cx="2651760" cy="1005840"/>
          </a:xfrm>
          <a:prstGeom prst="rect">
            <a:avLst/>
          </a:prstGeom>
          <a:solidFill>
            <a:srgbClr val="253546"/>
          </a:solidFill>
          <a:ln w="7620">
            <a:solidFill>
              <a:srgbClr val="344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pt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54496" y="4325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Survival Gap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SSCS  ·  AI Sub-Team  ·  Titanic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376</Words>
  <Application>Microsoft Office PowerPoint</Application>
  <PresentationFormat>On-screen Show (16:9)</PresentationFormat>
  <Paragraphs>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Dataset Analysis</dc:title>
  <dc:subject>PptxGenJS Presentation</dc:subject>
  <dc:creator>PptxGenJS</dc:creator>
  <cp:lastModifiedBy>Abdelrahman Mohamed Salama</cp:lastModifiedBy>
  <cp:revision>2</cp:revision>
  <dcterms:created xsi:type="dcterms:W3CDTF">2026-03-09T15:06:41Z</dcterms:created>
  <dcterms:modified xsi:type="dcterms:W3CDTF">2026-03-09T15:13:35Z</dcterms:modified>
</cp:coreProperties>
</file>